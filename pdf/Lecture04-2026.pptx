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E9C46A"/>
                </a:solidFill>
                <a:latin typeface="Calibri"/>
              </a:rPr>
              <a:t>第4讲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最优滤波与平滑算法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1828800" cy="457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E8EDF2"/>
                </a:solidFill>
                <a:latin typeface="Calibri"/>
              </a:rPr>
              <a:t>Optimal Filtering and Smoothing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Calibri"/>
              </a:rPr>
              <a:t>蔡远利 教授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E8EDF2"/>
                </a:solidFill>
                <a:latin typeface="Calibri"/>
              </a:rPr>
              <a:t>西安交通大学自动化学院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内容提纲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8046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457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097280"/>
            <a:ext cx="3657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离散时间线性系统描述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097280"/>
            <a:ext cx="3657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36E72"/>
                </a:solidFill>
                <a:latin typeface="Calibri"/>
              </a:rPr>
              <a:t>Discrete-Time Linear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27631"/>
            <a:ext cx="8046720" cy="43891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27631"/>
            <a:ext cx="457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27631"/>
            <a:ext cx="3657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状态估计基本概念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27631"/>
            <a:ext cx="3657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36E72"/>
                </a:solidFill>
                <a:latin typeface="Calibri"/>
              </a:rPr>
              <a:t>State Estimation Fundamentals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57984"/>
            <a:ext cx="8046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57984"/>
            <a:ext cx="457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157984"/>
            <a:ext cx="3657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卡尔曼滤波算法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157984"/>
            <a:ext cx="3657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36E72"/>
                </a:solidFill>
                <a:latin typeface="Calibri"/>
              </a:rPr>
              <a:t>Kalman Filtering Algorithm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88335"/>
            <a:ext cx="8046720" cy="43891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88335"/>
            <a:ext cx="457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688335"/>
            <a:ext cx="3657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相关噪声与成形滤波器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688335"/>
            <a:ext cx="3657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36E72"/>
                </a:solidFill>
                <a:latin typeface="Calibri"/>
              </a:rPr>
              <a:t>Correlated Noise &amp; Shaping Filters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18687"/>
            <a:ext cx="8046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18687"/>
            <a:ext cx="457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218687"/>
            <a:ext cx="3657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卡尔曼滤波器性能分析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218687"/>
            <a:ext cx="3657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36E72"/>
                </a:solidFill>
                <a:latin typeface="Calibri"/>
              </a:rPr>
              <a:t>Performance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49039"/>
            <a:ext cx="8046720" cy="43891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49039"/>
            <a:ext cx="457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749039"/>
            <a:ext cx="3657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最优平滑算法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749039"/>
            <a:ext cx="3657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36E72"/>
                </a:solidFill>
                <a:latin typeface="Calibri"/>
              </a:rPr>
              <a:t>Optimal Smoothing Algorithms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79392"/>
            <a:ext cx="8046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279392"/>
            <a:ext cx="457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2E86AB"/>
                </a:solidFill>
                <a:latin typeface="Calibr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279392"/>
            <a:ext cx="3657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本章小结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279392"/>
            <a:ext cx="3657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636E72"/>
                </a:solidFill>
                <a:latin typeface="Calibri"/>
              </a:rPr>
              <a:t>Chapter 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828800"/>
            <a:ext cx="73152" cy="1645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E9C46A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离散时间线性系统描述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E8EDF2"/>
                </a:solidFill>
                <a:latin typeface="Calibri"/>
              </a:rPr>
              <a:t>Discrete-Time Linear System 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828800"/>
            <a:ext cx="73152" cy="1645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E9C46A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状态估计基本概念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E8EDF2"/>
                </a:solidFill>
                <a:latin typeface="Calibri"/>
              </a:rPr>
              <a:t>State Estimation Fundamentals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828800"/>
            <a:ext cx="73152" cy="1645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E9C46A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卡尔曼滤波算法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E8EDF2"/>
                </a:solidFill>
                <a:latin typeface="Calibri"/>
              </a:rPr>
              <a:t>Kalman Filtering Algorithm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828800"/>
            <a:ext cx="73152" cy="1645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E9C46A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相关噪声与成形滤波器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E8EDF2"/>
                </a:solidFill>
                <a:latin typeface="Calibri"/>
              </a:rPr>
              <a:t>Correlated Noise &amp; Shaping Filters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828800"/>
            <a:ext cx="73152" cy="1645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E9C46A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卡尔曼滤波器性能分析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E8EDF2"/>
                </a:solidFill>
                <a:latin typeface="Calibri"/>
              </a:rPr>
              <a:t>Kalman Filter Performance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828800"/>
            <a:ext cx="73152" cy="1645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E9C46A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最优平滑算法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E8EDF2"/>
                </a:solidFill>
                <a:latin typeface="Calibri"/>
              </a:rPr>
              <a:t>Optimal Smoothing Algorithms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828800"/>
            <a:ext cx="73152" cy="1645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E9C46A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E8EDF2"/>
                </a:solidFill>
                <a:latin typeface="Calibri"/>
              </a:rPr>
              <a:t>Chapter Summary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离散时间线性系统模型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D3436"/>
                </a:solidFill>
                <a:latin typeface="Calibri"/>
              </a:rPr>
              <a:t>一般地，离散时间线性系统可描述为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99031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状态方程与量测方程：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46503"/>
            <a:ext cx="4207397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95144"/>
            <a:ext cx="3838222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2916935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 x_k \in \mathbb{R}^{n_x} — k 时刻的系统状态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18687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 u_k \in \mathbb{R}^{n_u} — 确定性控制输入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39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 y_{k+1} \in \mathbb{R}^{n_y} — k+1 时刻的量测信号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22191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 w_k — 过程噪声(模型误差)，v_{k+1} — 量测噪声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最优估计的基本问题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目标：基于量测信息 Y_k = {y_1, y_2, ..., y_k} 估计系统状态 x_k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滤波 (Filtering)：估计当前状态 \hat{x}_{k|k}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55064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预测 (Prediction)：估计未来状态 \hat{x}_{k+1|k}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56816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平滑 (Smoothing)：利用全部量测估计过去状态 \hat{x}_{k|N} (N &gt; 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95728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最优准则：最小均方误差 (MMSE)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在高斯假设下，卡尔曼滤波器是线性无偏最小方差估计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9923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在非高斯假设下，是所有线性估计中均方误差最小的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标准卡尔曼滤波算法 — 时间修正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80467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61288"/>
            <a:ext cx="8" cy="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36776"/>
            <a:ext cx="8" cy="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2468879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636E72"/>
                </a:solidFill>
                <a:latin typeface="Calibri"/>
              </a:rPr>
              <a:t>基于系统模型，从 k→k+1 步的状态与协方差预测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标准卡尔曼滤波算法 — 量测修正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80467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61288"/>
            <a:ext cx="8" cy="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36776"/>
            <a:ext cx="8" cy="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12264"/>
            <a:ext cx="8" cy="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2971800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636E72"/>
                </a:solidFill>
                <a:latin typeface="Calibri"/>
              </a:rPr>
              <a:t>K — 卡尔曼增益，决定对量测信息的置信程度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19272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636E72"/>
                </a:solidFill>
                <a:latin typeface="Calibri"/>
              </a:rPr>
              <a:t>滤波值 = 一步预测值 + 修正项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卡尔曼滤波算法特点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递推形式，便于计算机实时实现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每一步分为时间修正和量测修正两个环节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55064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算法结构与静态参数估计理论有深刻联系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56816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与融合估计、最小二乘、极大后验、最小方差估计本质一致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58568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滤波精度高于预测精度：P_{k+1|k+1} \leq P_{k+1|k}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增益与协方差可离线预先计算，减少在线计算量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4.1 过程噪声与量测噪声互相关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问题：当 E[w_k v_k^T] = C_k \neq 0 时，标准卡尔曼滤波不再最优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解决方案：构造等效系统，引入辅助增益 J_k = G_k C_k R_k^{-1}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46504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修正的一步预测：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93976"/>
            <a:ext cx="80467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03704"/>
            <a:ext cx="8" cy="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79192"/>
            <a:ext cx="8" cy="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511296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636E72"/>
                </a:solidFill>
                <a:latin typeface="Calibri"/>
              </a:rPr>
              <a:t>当 C_k = 0 时退化为标准卡尔曼滤波算法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4.2 有色过程噪声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有色噪声：谱密度 \Phi_w(\omega) 不为常数，序列在不同时刻相关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成形滤波器 (Shaping Filter)：有色噪声可看作白噪声通过线性系统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46504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成形滤波器模型：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93976"/>
            <a:ext cx="5354197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2734056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扩维后得到等价标准系统，应用标准卡尔曼滤波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35808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同时获得原系统状态和成形滤波器内部状态的估计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4.3 有色量测噪声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假设量测噪声 n_k 由成形滤波器产生：n_{k+1} = F_k^s n_k + v_k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构造虚拟量测：z_k = y_{k+1} - F_k^s y_k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46504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等效系统：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93976"/>
            <a:ext cx="2938272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42615"/>
            <a:ext cx="1905856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191255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636E72"/>
                </a:solidFill>
                <a:latin typeface="Calibri"/>
              </a:rPr>
              <a:t>其中 H_k^* = H_{k+1}F_k - F_k^s H_k,  v_k^* = H_{k+1}G_k w_k + v_k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11879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应用过程噪声与量测噪声相关时的滤波算法求解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5.1 一般分析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在高斯假设下：\hat{x}_{k|k} 是状态 x_k 的无偏最小方差估计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在非高斯假设下：是所有线性估计中均方误差最小的无偏估计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55064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卡尔曼增益：K_{k+1} = P_{k+1|k+1} H_{k+1}^T R_{k+1}^{-1}，量测不准则降低依赖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56816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大过程噪声 Q 与大量测噪声 R 均使滤波精度下降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58568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滤波精度高于预测精度：P_{k+1|k+1} &lt; P_{k+1|k}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增益与协方差可离线预先计算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5.2 稳定性分析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卡尔曼滤波器本质上是一个动态系统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基于李雅普诺夫稳定性理论分析误差动态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46504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一步预测滤波算法的误差动态方程：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93976"/>
            <a:ext cx="3284034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2642615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以 V(\tilde{x}_k) = \tilde{x}_k^T P_k^{-1} \tilde{x}_k 为李雅普诺夫函数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44368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稳定性条件：G_k Q_k G_k^T &gt; 0，或 R_k &gt; 0, Q_k \geq 0, K_k \neq 0, F_k 可逆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5.3 稳态性能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实际应用中常关心线性时不变系统的稳态性能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三个协方差矩阵：P_{k|k} (最优), P_{k|k}^* (视在), P_{k|k}^{**} (实际)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46504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定理 5.1：渐进稳定的卡尔曼滤波器最终趋于无偏估计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93976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定理 5.2：仅初始方差有误差时，视在协方差趋于最优协方差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41448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定理 5.3：平稳噪声下定常系统，滤波增益趋于常值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2D3436"/>
                </a:solidFill>
                <a:latin typeface="Calibri"/>
              </a:rPr>
              <a:t>定理 5.4 (保守滤波器)：P_0^* \geq P_0 且 Q^* \geq Q, R^* \geq R \Rightarrow P_{k|k}^* \geq P_{k|k}^{**}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平滑问题概述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平滑：利用 (0,N] 区间全部量测数据对 t \in [0,N] 时刻的状态进行估计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平滑估计是非实时的，精度高于滤波估计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46504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三类平滑问题：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93976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lvl="1"/>
            <a:r>
              <a:rPr sz="1400">
                <a:solidFill>
                  <a:srgbClr val="2D3436"/>
                </a:solidFill>
                <a:latin typeface="Calibri"/>
              </a:rPr>
              <a:t>固定区间平滑 (Fixed-Interval Smoothing)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957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lvl="1"/>
            <a:r>
              <a:rPr sz="1400">
                <a:solidFill>
                  <a:srgbClr val="2D3436"/>
                </a:solidFill>
                <a:latin typeface="Calibri"/>
              </a:rPr>
              <a:t>固定点平滑 (Fixed-Point Smoothing)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974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lvl="1"/>
            <a:r>
              <a:rPr sz="1400">
                <a:solidFill>
                  <a:srgbClr val="2D3436"/>
                </a:solidFill>
                <a:latin typeface="Calibri"/>
              </a:rPr>
              <a:t>固定延迟平滑 (Fixed-Lag Smoothing)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9067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三类问题均有不同应用背景，后两类可建立递推算法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6.1 最优平滑器的一般形式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记前向滤波估计 \hat{x}_{t|t}^F，反向滤波估计 \hat{x}_{t|t+1}^B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基于融合估计原理：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00784"/>
            <a:ext cx="80467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10512"/>
            <a:ext cx="8" cy="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8" cy="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118103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636E72"/>
                </a:solidFill>
                <a:latin typeface="Calibri"/>
              </a:rPr>
              <a:t>平滑精度高于滤波精度：P_{t|N} \leq P_{t|t}^F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6.2 最优固定区间平滑 — RTS 平滑器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前向滤波器 = 标准卡尔曼滤波器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反向滤波器从 N 时刻开始反向递推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55064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引入信息矩阵 S = P^{-1} 和信息加权估计 \hat{z} = P^{-1} \hat{x} 提高效率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RTS 平滑器 (Rauch-Tung-Striebel)：更高效的简化形式，计算量减少约 1/3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80467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87168"/>
            <a:ext cx="8" cy="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62656"/>
            <a:ext cx="8" cy="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38144"/>
            <a:ext cx="8" cy="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6.3 最优固定点平滑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D3436"/>
                </a:solidFill>
                <a:latin typeface="Calibri"/>
              </a:rPr>
              <a:t>固定点平滑：求 \hat{x}_{j|k} (k \geq j)，j 为固定值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算法 A：基于状态扩维思想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37943"/>
            <a:ext cx="2338938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2386583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扩维后应用标准卡尔曼滤波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79775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算法 B：基于固定区间 RTS 算法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27247"/>
            <a:ext cx="3813349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21607"/>
            <a:ext cx="2647244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6.4 最优固定延迟平滑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D3436"/>
                </a:solidFill>
                <a:latin typeface="Calibri"/>
              </a:rPr>
              <a:t>固定延迟平滑：估计 \hat{x}_{k|k+d}，d 为固定延迟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一步延迟平滑：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37943"/>
            <a:ext cx="80467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47672"/>
            <a:ext cx="8" cy="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23160"/>
            <a:ext cx="8" cy="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255264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多步延迟可通过递推方式得到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57016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Example 6.1：标量系统验证三类平滑算法正确性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卡尔曼滤波的多视角理解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D3436"/>
                </a:solidFill>
                <a:latin typeface="Calibri"/>
              </a:rPr>
              <a:t>融合估计视角：(\hat{x}_{k+1|k}, P_{k+1|k}) 与量测 y_{k+1} 融合 \rightarrow \hat{x}_{k+1|k+1}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99031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D3436"/>
                </a:solidFill>
                <a:latin typeface="Calibri"/>
              </a:rPr>
              <a:t>最小二乘视角：\hat{x}_{k+1|k} (先验) 和 y_{k+1} 视为两组量测 \rightarrow 加权最小二乘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46503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D3436"/>
                </a:solidFill>
                <a:latin typeface="Calibri"/>
              </a:rPr>
              <a:t>极大后验估计视角：最大化后验概率密度 f(x|y)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93975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D3436"/>
                </a:solidFill>
                <a:latin typeface="Calibri"/>
              </a:rPr>
              <a:t>最小方差估计视角：\hat{x} = \hat{x}_{k+1|k} + K (y - H \hat{x}_{k+1|k})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78607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四种视角均导出相同的卡尔曼滤波公式，理论根基深厚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相关噪声滤波算法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过程噪声与量测噪声互相关时：何毓琦方法，构造等效系统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有色过程噪声：成形滤波器 + 状态扩维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55064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有色量测噪声：构造虚拟量测，化归为互相关情况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93976"/>
            <a:ext cx="749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D3436"/>
                </a:solidFill>
                <a:latin typeface="Calibri"/>
              </a:rPr>
              <a:t>核心思想：通过系统变换将非标准问题转化为标准形式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41448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标准卡尔曼滤波 \rightarrow 噪声互相关 \rightarrow 有色噪声，逐步扩展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本章重点回顾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离散时间线性系统的状态空间描述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标准卡尔曼滤波算法的推导与理解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55064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相关噪声情况下的修正算法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56816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卡尔曼滤波器的稳定性与稳态性能分析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58568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三类最优平滑算法（固定区间/固定点/固定延迟）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RTS 平滑器的高效实现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6207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400">
                <a:solidFill>
                  <a:srgbClr val="2D3436"/>
                </a:solidFill>
                <a:latin typeface="Calibri"/>
              </a:rPr>
              <a:t>从融合估计、最小二乘、极大后验、最小方差多视角理解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2651760"/>
            <a:ext cx="1828800" cy="457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E8EDF2"/>
                </a:solidFill>
                <a:latin typeface="Calibri"/>
              </a:rP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636E72"/>
                </a:solidFill>
                <a:latin typeface="Calibri"/>
              </a:rPr>
              <a:t>蔡远利 教授  西安交通大学自动化学院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